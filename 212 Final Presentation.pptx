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Raleway"/>
      <p:regular r:id="rId19"/>
      <p:bold r:id="rId20"/>
      <p:italic r:id="rId21"/>
      <p:boldItalic r:id="rId22"/>
    </p:embeddedFont>
    <p:embeddedFont>
      <p:font typeface="La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fntdata"/><Relationship Id="rId22" Type="http://schemas.openxmlformats.org/officeDocument/2006/relationships/font" Target="fonts/Raleway-boldItalic.fntdata"/><Relationship Id="rId21" Type="http://schemas.openxmlformats.org/officeDocument/2006/relationships/font" Target="fonts/Raleway-italic.fntdata"/><Relationship Id="rId24" Type="http://schemas.openxmlformats.org/officeDocument/2006/relationships/font" Target="fonts/Lato-bold.fntdata"/><Relationship Id="rId23" Type="http://schemas.openxmlformats.org/officeDocument/2006/relationships/font" Target="fonts/La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Italic.fntdata"/><Relationship Id="rId25"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aleway-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 sz="1300">
                <a:solidFill>
                  <a:srgbClr val="595959"/>
                </a:solidFill>
                <a:latin typeface="Lato"/>
                <a:ea typeface="Lato"/>
                <a:cs typeface="Lato"/>
                <a:sym typeface="Lato"/>
              </a:rPr>
              <a:t>We are analyzing how academic workload and perceived course difficulty relate to the mental and physical well-being of college students in tech majors. Our goal is to understand whether higher workload and stress are associated with increased anxiety, depression, and burnout. For this presentation we decided to report on most of our findings from our data </a:t>
            </a:r>
            <a:r>
              <a:rPr lang="en" sz="1300">
                <a:solidFill>
                  <a:srgbClr val="595959"/>
                </a:solidFill>
                <a:latin typeface="Lato"/>
                <a:ea typeface="Lato"/>
                <a:cs typeface="Lato"/>
                <a:sym typeface="Lato"/>
              </a:rPr>
              <a:t>analysis</a:t>
            </a:r>
            <a:r>
              <a:rPr lang="en" sz="1300">
                <a:solidFill>
                  <a:srgbClr val="595959"/>
                </a:solidFill>
                <a:latin typeface="Lato"/>
                <a:ea typeface="Lato"/>
                <a:cs typeface="Lato"/>
                <a:sym typeface="Lato"/>
              </a:rPr>
              <a:t>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f5cec81d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f5cec81d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Tori</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a673606431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a673606431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Tori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a4af2772b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a4af2772b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kate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af5cec81d4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af5cec81d4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kate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a4af2772b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a4af2772b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Tori</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ac6b47755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ac6b47755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Tori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a673606431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a673606431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Tori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ac6b47755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ac6b47755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Tori</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ac6b47755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ac6b47755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solidFill>
                  <a:schemeClr val="dk1"/>
                </a:solidFill>
              </a:rPr>
              <a:t>kate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ac6b47755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ac6b47755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a:solidFill>
                  <a:schemeClr val="dk1"/>
                </a:solidFill>
              </a:rPr>
              <a:t>kate</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af5cec81d4_1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af5cec81d4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kate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afbafa4fa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afbafa4fa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Technology college students and mental health </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Kate Messitte &amp; Tori Duckworth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nvSpPr>
        <p:spPr>
          <a:xfrm>
            <a:off x="979950" y="1551575"/>
            <a:ext cx="7184100" cy="287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500">
                <a:solidFill>
                  <a:schemeClr val="accent1"/>
                </a:solidFill>
                <a:latin typeface="Lato"/>
                <a:ea typeface="Lato"/>
                <a:cs typeface="Lato"/>
                <a:sym typeface="Lato"/>
              </a:rPr>
              <a:t>Does academic pressure play a role in students Mental Health? </a:t>
            </a:r>
            <a:endParaRPr b="1" sz="3500">
              <a:solidFill>
                <a:schemeClr val="accent1"/>
              </a:solidFill>
              <a:latin typeface="Lato"/>
              <a:ea typeface="Lato"/>
              <a:cs typeface="Lato"/>
              <a:sym typeface="Lato"/>
            </a:endParaRPr>
          </a:p>
          <a:p>
            <a:pPr indent="0" lvl="0" marL="0" rtl="0" algn="ctr">
              <a:spcBef>
                <a:spcPts val="0"/>
              </a:spcBef>
              <a:spcAft>
                <a:spcPts val="0"/>
              </a:spcAft>
              <a:buNone/>
            </a:pPr>
            <a:r>
              <a:t/>
            </a:r>
            <a:endParaRPr b="1" sz="3500">
              <a:solidFill>
                <a:schemeClr val="accent1"/>
              </a:solidFill>
              <a:latin typeface="Lato"/>
              <a:ea typeface="Lato"/>
              <a:cs typeface="Lato"/>
              <a:sym typeface="Lato"/>
            </a:endParaRPr>
          </a:p>
          <a:p>
            <a:pPr indent="0" lvl="0" marL="0" rtl="0" algn="ctr">
              <a:spcBef>
                <a:spcPts val="0"/>
              </a:spcBef>
              <a:spcAft>
                <a:spcPts val="0"/>
              </a:spcAft>
              <a:buNone/>
            </a:pPr>
            <a:r>
              <a:rPr b="1" lang="en" sz="3500">
                <a:solidFill>
                  <a:schemeClr val="accent1"/>
                </a:solidFill>
                <a:latin typeface="Lato"/>
                <a:ea typeface="Lato"/>
                <a:cs typeface="Lato"/>
                <a:sym typeface="Lato"/>
              </a:rPr>
              <a:t>Or are there other factors that </a:t>
            </a:r>
            <a:r>
              <a:rPr b="1" lang="en" sz="3500">
                <a:solidFill>
                  <a:schemeClr val="accent1"/>
                </a:solidFill>
                <a:latin typeface="Lato"/>
                <a:ea typeface="Lato"/>
                <a:cs typeface="Lato"/>
                <a:sym typeface="Lato"/>
              </a:rPr>
              <a:t>influence</a:t>
            </a:r>
            <a:r>
              <a:rPr b="1" lang="en" sz="3500">
                <a:solidFill>
                  <a:schemeClr val="accent1"/>
                </a:solidFill>
                <a:latin typeface="Lato"/>
                <a:ea typeface="Lato"/>
                <a:cs typeface="Lato"/>
                <a:sym typeface="Lato"/>
              </a:rPr>
              <a:t> technology students? </a:t>
            </a:r>
            <a:endParaRPr b="1" sz="3500">
              <a:solidFill>
                <a:schemeClr val="accent1"/>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pic>
        <p:nvPicPr>
          <p:cNvPr id="97" name="Google Shape;97;p15" title="Screenshot 2025-11-17 at 12.57.11 PM.png"/>
          <p:cNvPicPr preferRelativeResize="0"/>
          <p:nvPr/>
        </p:nvPicPr>
        <p:blipFill rotWithShape="1">
          <a:blip r:embed="rId3">
            <a:alphaModFix/>
          </a:blip>
          <a:srcRect b="18857" l="0" r="0" t="0"/>
          <a:stretch/>
        </p:blipFill>
        <p:spPr>
          <a:xfrm>
            <a:off x="0" y="1648700"/>
            <a:ext cx="9144001" cy="2903425"/>
          </a:xfrm>
          <a:prstGeom prst="rect">
            <a:avLst/>
          </a:prstGeom>
          <a:noFill/>
          <a:ln>
            <a:noFill/>
          </a:ln>
        </p:spPr>
      </p:pic>
      <p:sp>
        <p:nvSpPr>
          <p:cNvPr id="98" name="Google Shape;98;p15"/>
          <p:cNvSpPr txBox="1"/>
          <p:nvPr/>
        </p:nvSpPr>
        <p:spPr>
          <a:xfrm>
            <a:off x="481625" y="528975"/>
            <a:ext cx="8432400" cy="7563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chemeClr val="accent1"/>
                </a:solidFill>
                <a:latin typeface="Lato"/>
                <a:ea typeface="Lato"/>
                <a:cs typeface="Lato"/>
                <a:sym typeface="Lato"/>
              </a:rPr>
              <a:t>What percent students fall into each category?</a:t>
            </a:r>
            <a:endParaRPr b="1" sz="3000">
              <a:solidFill>
                <a:schemeClr val="accent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pic>
        <p:nvPicPr>
          <p:cNvPr id="103" name="Google Shape;103;p16" title="Screenshot 2025-12-10 at 12.29.51 PM.png"/>
          <p:cNvPicPr preferRelativeResize="0"/>
          <p:nvPr/>
        </p:nvPicPr>
        <p:blipFill rotWithShape="1">
          <a:blip r:embed="rId3">
            <a:alphaModFix/>
          </a:blip>
          <a:srcRect b="0" l="9926" r="0" t="0"/>
          <a:stretch/>
        </p:blipFill>
        <p:spPr>
          <a:xfrm>
            <a:off x="0" y="1"/>
            <a:ext cx="6395275" cy="5143500"/>
          </a:xfrm>
          <a:prstGeom prst="rect">
            <a:avLst/>
          </a:prstGeom>
          <a:noFill/>
          <a:ln>
            <a:noFill/>
          </a:ln>
        </p:spPr>
      </p:pic>
      <p:sp>
        <p:nvSpPr>
          <p:cNvPr id="104" name="Google Shape;104;p16"/>
          <p:cNvSpPr txBox="1"/>
          <p:nvPr>
            <p:ph type="title"/>
          </p:nvPr>
        </p:nvSpPr>
        <p:spPr>
          <a:xfrm>
            <a:off x="6522600" y="583825"/>
            <a:ext cx="2621400" cy="922200"/>
          </a:xfrm>
          <a:prstGeom prst="rect">
            <a:avLst/>
          </a:prstGeom>
          <a:solidFill>
            <a:schemeClr val="lt1"/>
          </a:solidFill>
        </p:spPr>
        <p:txBody>
          <a:bodyPr anchorCtr="0" anchor="t" bIns="91425" lIns="91425" spcFirstLastPara="1" rIns="91425" wrap="square" tIns="91425">
            <a:noAutofit/>
          </a:bodyPr>
          <a:lstStyle/>
          <a:p>
            <a:pPr indent="0" lvl="0" marL="0" rtl="0" algn="l">
              <a:spcBef>
                <a:spcPts val="0"/>
              </a:spcBef>
              <a:spcAft>
                <a:spcPts val="0"/>
              </a:spcAft>
              <a:buNone/>
            </a:pPr>
            <a:r>
              <a:rPr lang="en" sz="2500"/>
              <a:t>Correlation of Variables</a:t>
            </a:r>
            <a:endParaRPr sz="25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17" title="Screenshot 2025-12-10 at 12.34.36 PM.png"/>
          <p:cNvPicPr preferRelativeResize="0"/>
          <p:nvPr/>
        </p:nvPicPr>
        <p:blipFill rotWithShape="1">
          <a:blip r:embed="rId3">
            <a:alphaModFix/>
          </a:blip>
          <a:srcRect b="7019" l="0" r="0" t="0"/>
          <a:stretch/>
        </p:blipFill>
        <p:spPr>
          <a:xfrm>
            <a:off x="484113" y="2795875"/>
            <a:ext cx="8175775" cy="1938775"/>
          </a:xfrm>
          <a:prstGeom prst="rect">
            <a:avLst/>
          </a:prstGeom>
          <a:noFill/>
          <a:ln>
            <a:noFill/>
          </a:ln>
        </p:spPr>
      </p:pic>
      <p:sp>
        <p:nvSpPr>
          <p:cNvPr id="110" name="Google Shape;110;p17"/>
          <p:cNvSpPr txBox="1"/>
          <p:nvPr/>
        </p:nvSpPr>
        <p:spPr>
          <a:xfrm>
            <a:off x="229475" y="1299400"/>
            <a:ext cx="8726700" cy="728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500">
                <a:solidFill>
                  <a:schemeClr val="accent1"/>
                </a:solidFill>
                <a:latin typeface="Lato"/>
                <a:ea typeface="Lato"/>
                <a:cs typeface="Lato"/>
                <a:sym typeface="Lato"/>
              </a:rPr>
              <a:t>What does Students Mental Health look like overall?</a:t>
            </a:r>
            <a:endParaRPr sz="3500">
              <a:solidFill>
                <a:schemeClr val="accen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nvSpPr>
        <p:spPr>
          <a:xfrm>
            <a:off x="4963975" y="-113750"/>
            <a:ext cx="4179900" cy="25779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
        <p:nvSpPr>
          <p:cNvPr id="116" name="Google Shape;116;p18"/>
          <p:cNvSpPr txBox="1"/>
          <p:nvPr>
            <p:ph type="title"/>
          </p:nvPr>
        </p:nvSpPr>
        <p:spPr>
          <a:xfrm>
            <a:off x="201475" y="725525"/>
            <a:ext cx="4596600" cy="924000"/>
          </a:xfrm>
          <a:prstGeom prst="rect">
            <a:avLst/>
          </a:prstGeom>
          <a:solidFill>
            <a:schemeClr val="lt1"/>
          </a:solidFill>
        </p:spPr>
        <p:txBody>
          <a:bodyPr anchorCtr="0" anchor="t" bIns="91425" lIns="91425" spcFirstLastPara="1" rIns="91425" wrap="square" tIns="91425">
            <a:noAutofit/>
          </a:bodyPr>
          <a:lstStyle/>
          <a:p>
            <a:pPr indent="0" lvl="0" marL="0" rtl="0" algn="l">
              <a:spcBef>
                <a:spcPts val="0"/>
              </a:spcBef>
              <a:spcAft>
                <a:spcPts val="0"/>
              </a:spcAft>
              <a:buNone/>
            </a:pPr>
            <a:r>
              <a:rPr lang="en" sz="2500"/>
              <a:t>Academic Year &amp; Mental Health</a:t>
            </a:r>
            <a:endParaRPr sz="2500"/>
          </a:p>
        </p:txBody>
      </p:sp>
      <p:cxnSp>
        <p:nvCxnSpPr>
          <p:cNvPr id="117" name="Google Shape;117;p18"/>
          <p:cNvCxnSpPr/>
          <p:nvPr/>
        </p:nvCxnSpPr>
        <p:spPr>
          <a:xfrm rot="10800000">
            <a:off x="-45200" y="2032850"/>
            <a:ext cx="4992000" cy="3300"/>
          </a:xfrm>
          <a:prstGeom prst="straightConnector1">
            <a:avLst/>
          </a:prstGeom>
          <a:noFill/>
          <a:ln cap="flat" cmpd="sng" w="38100">
            <a:solidFill>
              <a:schemeClr val="dk2"/>
            </a:solidFill>
            <a:prstDash val="solid"/>
            <a:round/>
            <a:headEnd len="med" w="med" type="none"/>
            <a:tailEnd len="med" w="med" type="none"/>
          </a:ln>
        </p:spPr>
      </p:cxnSp>
      <p:cxnSp>
        <p:nvCxnSpPr>
          <p:cNvPr id="118" name="Google Shape;118;p18"/>
          <p:cNvCxnSpPr/>
          <p:nvPr/>
        </p:nvCxnSpPr>
        <p:spPr>
          <a:xfrm>
            <a:off x="4946800" y="-12375"/>
            <a:ext cx="21000" cy="5155800"/>
          </a:xfrm>
          <a:prstGeom prst="straightConnector1">
            <a:avLst/>
          </a:prstGeom>
          <a:noFill/>
          <a:ln cap="flat" cmpd="sng" w="38100">
            <a:solidFill>
              <a:schemeClr val="dk2"/>
            </a:solidFill>
            <a:prstDash val="solid"/>
            <a:round/>
            <a:headEnd len="med" w="med" type="none"/>
            <a:tailEnd len="med" w="med" type="none"/>
          </a:ln>
        </p:spPr>
      </p:cxnSp>
      <p:cxnSp>
        <p:nvCxnSpPr>
          <p:cNvPr id="119" name="Google Shape;119;p18"/>
          <p:cNvCxnSpPr/>
          <p:nvPr/>
        </p:nvCxnSpPr>
        <p:spPr>
          <a:xfrm rot="10800000">
            <a:off x="4977050" y="2514150"/>
            <a:ext cx="4302300" cy="10800"/>
          </a:xfrm>
          <a:prstGeom prst="straightConnector1">
            <a:avLst/>
          </a:prstGeom>
          <a:noFill/>
          <a:ln cap="flat" cmpd="sng" w="38100">
            <a:solidFill>
              <a:schemeClr val="dk2"/>
            </a:solidFill>
            <a:prstDash val="solid"/>
            <a:round/>
            <a:headEnd len="med" w="med" type="none"/>
            <a:tailEnd len="med" w="med" type="none"/>
          </a:ln>
        </p:spPr>
      </p:cxnSp>
      <p:pic>
        <p:nvPicPr>
          <p:cNvPr id="120" name="Google Shape;120;p18" title="Screenshot 2025-12-10 at 12.22.35 PM.png"/>
          <p:cNvPicPr preferRelativeResize="0"/>
          <p:nvPr/>
        </p:nvPicPr>
        <p:blipFill>
          <a:blip r:embed="rId3">
            <a:alphaModFix/>
          </a:blip>
          <a:stretch>
            <a:fillRect/>
          </a:stretch>
        </p:blipFill>
        <p:spPr>
          <a:xfrm>
            <a:off x="57200" y="2079025"/>
            <a:ext cx="4786276" cy="2972826"/>
          </a:xfrm>
          <a:prstGeom prst="rect">
            <a:avLst/>
          </a:prstGeom>
          <a:noFill/>
          <a:ln>
            <a:noFill/>
          </a:ln>
        </p:spPr>
      </p:pic>
      <p:pic>
        <p:nvPicPr>
          <p:cNvPr id="121" name="Google Shape;121;p18" title="Screenshot 2025-12-10 at 12.23.06 PM.png"/>
          <p:cNvPicPr preferRelativeResize="0"/>
          <p:nvPr/>
        </p:nvPicPr>
        <p:blipFill>
          <a:blip r:embed="rId4">
            <a:alphaModFix/>
          </a:blip>
          <a:stretch>
            <a:fillRect/>
          </a:stretch>
        </p:blipFill>
        <p:spPr>
          <a:xfrm>
            <a:off x="5017975" y="2571750"/>
            <a:ext cx="4076875" cy="2577939"/>
          </a:xfrm>
          <a:prstGeom prst="rect">
            <a:avLst/>
          </a:prstGeom>
          <a:noFill/>
          <a:ln>
            <a:noFill/>
          </a:ln>
        </p:spPr>
      </p:pic>
      <p:pic>
        <p:nvPicPr>
          <p:cNvPr id="122" name="Google Shape;122;p18" title="Screenshot 2025-12-10 at 12.23.35 PM.png"/>
          <p:cNvPicPr preferRelativeResize="0"/>
          <p:nvPr/>
        </p:nvPicPr>
        <p:blipFill>
          <a:blip r:embed="rId5">
            <a:alphaModFix/>
          </a:blip>
          <a:stretch>
            <a:fillRect/>
          </a:stretch>
        </p:blipFill>
        <p:spPr>
          <a:xfrm>
            <a:off x="5116470" y="-58475"/>
            <a:ext cx="3879905" cy="2467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9"/>
          <p:cNvSpPr txBox="1"/>
          <p:nvPr>
            <p:ph type="title"/>
          </p:nvPr>
        </p:nvSpPr>
        <p:spPr>
          <a:xfrm>
            <a:off x="75400" y="1396250"/>
            <a:ext cx="2546100" cy="922200"/>
          </a:xfrm>
          <a:prstGeom prst="rect">
            <a:avLst/>
          </a:prstGeom>
          <a:solidFill>
            <a:schemeClr val="lt1"/>
          </a:solidFill>
        </p:spPr>
        <p:txBody>
          <a:bodyPr anchorCtr="0" anchor="t" bIns="91425" lIns="91425" spcFirstLastPara="1" rIns="91425" wrap="square" tIns="91425">
            <a:noAutofit/>
          </a:bodyPr>
          <a:lstStyle/>
          <a:p>
            <a:pPr indent="0" lvl="0" marL="0" rtl="0" algn="l">
              <a:spcBef>
                <a:spcPts val="0"/>
              </a:spcBef>
              <a:spcAft>
                <a:spcPts val="0"/>
              </a:spcAft>
              <a:buNone/>
            </a:pPr>
            <a:r>
              <a:rPr lang="en" sz="2500"/>
              <a:t>GPA &amp; Mental Health </a:t>
            </a:r>
            <a:endParaRPr sz="2500"/>
          </a:p>
        </p:txBody>
      </p:sp>
      <p:pic>
        <p:nvPicPr>
          <p:cNvPr id="128" name="Google Shape;128;p19" title="Screenshot 2025-12-10 at 12.25.04 PM.png"/>
          <p:cNvPicPr preferRelativeResize="0"/>
          <p:nvPr/>
        </p:nvPicPr>
        <p:blipFill>
          <a:blip r:embed="rId3">
            <a:alphaModFix/>
          </a:blip>
          <a:stretch>
            <a:fillRect/>
          </a:stretch>
        </p:blipFill>
        <p:spPr>
          <a:xfrm>
            <a:off x="2682555" y="-1"/>
            <a:ext cx="6461446" cy="5143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0"/>
          <p:cNvSpPr txBox="1"/>
          <p:nvPr>
            <p:ph type="title"/>
          </p:nvPr>
        </p:nvSpPr>
        <p:spPr>
          <a:xfrm>
            <a:off x="117425" y="773675"/>
            <a:ext cx="4820100" cy="949200"/>
          </a:xfrm>
          <a:prstGeom prst="rect">
            <a:avLst/>
          </a:prstGeom>
          <a:solidFill>
            <a:schemeClr val="lt1"/>
          </a:solidFill>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Number of Hobbies &amp; Mental Health</a:t>
            </a:r>
            <a:endParaRPr sz="2540"/>
          </a:p>
        </p:txBody>
      </p:sp>
      <p:cxnSp>
        <p:nvCxnSpPr>
          <p:cNvPr id="134" name="Google Shape;134;p20"/>
          <p:cNvCxnSpPr/>
          <p:nvPr/>
        </p:nvCxnSpPr>
        <p:spPr>
          <a:xfrm rot="10800000">
            <a:off x="4977050" y="2514150"/>
            <a:ext cx="4302300" cy="10800"/>
          </a:xfrm>
          <a:prstGeom prst="straightConnector1">
            <a:avLst/>
          </a:prstGeom>
          <a:noFill/>
          <a:ln cap="flat" cmpd="sng" w="38100">
            <a:solidFill>
              <a:schemeClr val="dk2"/>
            </a:solidFill>
            <a:prstDash val="solid"/>
            <a:round/>
            <a:headEnd len="med" w="med" type="none"/>
            <a:tailEnd len="med" w="med" type="none"/>
          </a:ln>
        </p:spPr>
      </p:cxnSp>
      <p:cxnSp>
        <p:nvCxnSpPr>
          <p:cNvPr id="135" name="Google Shape;135;p20"/>
          <p:cNvCxnSpPr/>
          <p:nvPr/>
        </p:nvCxnSpPr>
        <p:spPr>
          <a:xfrm>
            <a:off x="4946800" y="-12375"/>
            <a:ext cx="21000" cy="5155800"/>
          </a:xfrm>
          <a:prstGeom prst="straightConnector1">
            <a:avLst/>
          </a:prstGeom>
          <a:noFill/>
          <a:ln cap="flat" cmpd="sng" w="38100">
            <a:solidFill>
              <a:schemeClr val="dk2"/>
            </a:solidFill>
            <a:prstDash val="solid"/>
            <a:round/>
            <a:headEnd len="med" w="med" type="none"/>
            <a:tailEnd len="med" w="med" type="none"/>
          </a:ln>
        </p:spPr>
      </p:cxnSp>
      <p:cxnSp>
        <p:nvCxnSpPr>
          <p:cNvPr id="136" name="Google Shape;136;p20"/>
          <p:cNvCxnSpPr/>
          <p:nvPr/>
        </p:nvCxnSpPr>
        <p:spPr>
          <a:xfrm rot="10800000">
            <a:off x="-45200" y="2032850"/>
            <a:ext cx="4992000" cy="3300"/>
          </a:xfrm>
          <a:prstGeom prst="straightConnector1">
            <a:avLst/>
          </a:prstGeom>
          <a:noFill/>
          <a:ln cap="flat" cmpd="sng" w="38100">
            <a:solidFill>
              <a:schemeClr val="dk2"/>
            </a:solidFill>
            <a:prstDash val="solid"/>
            <a:round/>
            <a:headEnd len="med" w="med" type="none"/>
            <a:tailEnd len="med" w="med" type="none"/>
          </a:ln>
        </p:spPr>
      </p:cxnSp>
      <p:pic>
        <p:nvPicPr>
          <p:cNvPr id="137" name="Google Shape;137;p20" title="Screenshot 2025-12-10 at 12.24.51 PM.png"/>
          <p:cNvPicPr preferRelativeResize="0"/>
          <p:nvPr/>
        </p:nvPicPr>
        <p:blipFill>
          <a:blip r:embed="rId3">
            <a:alphaModFix/>
          </a:blip>
          <a:stretch>
            <a:fillRect/>
          </a:stretch>
        </p:blipFill>
        <p:spPr>
          <a:xfrm>
            <a:off x="5700" y="2077100"/>
            <a:ext cx="4709101" cy="2935826"/>
          </a:xfrm>
          <a:prstGeom prst="rect">
            <a:avLst/>
          </a:prstGeom>
          <a:noFill/>
          <a:ln>
            <a:noFill/>
          </a:ln>
        </p:spPr>
      </p:pic>
      <p:pic>
        <p:nvPicPr>
          <p:cNvPr id="138" name="Google Shape;138;p20" title="Screenshot 2025-12-10 at 12.25.15 PM.png"/>
          <p:cNvPicPr preferRelativeResize="0"/>
          <p:nvPr/>
        </p:nvPicPr>
        <p:blipFill>
          <a:blip r:embed="rId4">
            <a:alphaModFix/>
          </a:blip>
          <a:stretch>
            <a:fillRect/>
          </a:stretch>
        </p:blipFill>
        <p:spPr>
          <a:xfrm>
            <a:off x="5060190" y="2572095"/>
            <a:ext cx="3975935" cy="2496525"/>
          </a:xfrm>
          <a:prstGeom prst="rect">
            <a:avLst/>
          </a:prstGeom>
          <a:noFill/>
          <a:ln>
            <a:noFill/>
          </a:ln>
        </p:spPr>
      </p:pic>
      <p:pic>
        <p:nvPicPr>
          <p:cNvPr id="139" name="Google Shape;139;p20" title="Screenshot 2025-12-10 at 12.25.57 PM.png"/>
          <p:cNvPicPr preferRelativeResize="0"/>
          <p:nvPr/>
        </p:nvPicPr>
        <p:blipFill>
          <a:blip r:embed="rId5">
            <a:alphaModFix/>
          </a:blip>
          <a:stretch>
            <a:fillRect/>
          </a:stretch>
        </p:blipFill>
        <p:spPr>
          <a:xfrm>
            <a:off x="4977050" y="0"/>
            <a:ext cx="4063218" cy="24965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1"/>
          <p:cNvSpPr txBox="1"/>
          <p:nvPr>
            <p:ph type="title"/>
          </p:nvPr>
        </p:nvSpPr>
        <p:spPr>
          <a:xfrm>
            <a:off x="131425" y="1246650"/>
            <a:ext cx="2495400" cy="1120500"/>
          </a:xfrm>
          <a:prstGeom prst="rect">
            <a:avLst/>
          </a:prstGeom>
          <a:solidFill>
            <a:schemeClr val="lt1"/>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Stress Relief Activities  &amp; Mental Health </a:t>
            </a:r>
            <a:endParaRPr/>
          </a:p>
        </p:txBody>
      </p:sp>
      <p:pic>
        <p:nvPicPr>
          <p:cNvPr id="145" name="Google Shape;145;p21" title="Screenshot 2025-12-10 at 12.27.12 PM.png"/>
          <p:cNvPicPr preferRelativeResize="0"/>
          <p:nvPr/>
        </p:nvPicPr>
        <p:blipFill>
          <a:blip r:embed="rId3">
            <a:alphaModFix/>
          </a:blip>
          <a:stretch>
            <a:fillRect/>
          </a:stretch>
        </p:blipFill>
        <p:spPr>
          <a:xfrm>
            <a:off x="2626887" y="0"/>
            <a:ext cx="6517114" cy="5143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2"/>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Sleep as a stress relief activity</a:t>
            </a:r>
            <a:endParaRPr/>
          </a:p>
        </p:txBody>
      </p:sp>
      <p:pic>
        <p:nvPicPr>
          <p:cNvPr id="151" name="Google Shape;151;p22" title="Screenshot 2025-12-10 at 12.33.05 PM.png"/>
          <p:cNvPicPr preferRelativeResize="0"/>
          <p:nvPr/>
        </p:nvPicPr>
        <p:blipFill>
          <a:blip r:embed="rId3">
            <a:alphaModFix/>
          </a:blip>
          <a:stretch>
            <a:fillRect/>
          </a:stretch>
        </p:blipFill>
        <p:spPr>
          <a:xfrm>
            <a:off x="1477308" y="1257750"/>
            <a:ext cx="6192999" cy="37481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3"/>
          <p:cNvSpPr txBox="1"/>
          <p:nvPr>
            <p:ph type="title"/>
          </p:nvPr>
        </p:nvSpPr>
        <p:spPr>
          <a:xfrm>
            <a:off x="727650" y="6242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Sleep and mental health outcomes</a:t>
            </a:r>
            <a:endParaRPr/>
          </a:p>
        </p:txBody>
      </p:sp>
      <p:pic>
        <p:nvPicPr>
          <p:cNvPr id="157" name="Google Shape;157;p23" title="Screenshot 2025-12-10 at 12.39.38 PM.png"/>
          <p:cNvPicPr preferRelativeResize="0"/>
          <p:nvPr/>
        </p:nvPicPr>
        <p:blipFill>
          <a:blip r:embed="rId3">
            <a:alphaModFix/>
          </a:blip>
          <a:stretch>
            <a:fillRect/>
          </a:stretch>
        </p:blipFill>
        <p:spPr>
          <a:xfrm>
            <a:off x="1498765" y="1243300"/>
            <a:ext cx="6146474" cy="3809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 </a:t>
            </a:r>
            <a:endParaRPr/>
          </a:p>
        </p:txBody>
      </p:sp>
      <p:sp>
        <p:nvSpPr>
          <p:cNvPr id="163" name="Google Shape;163;p24"/>
          <p:cNvSpPr txBox="1"/>
          <p:nvPr>
            <p:ph idx="1" type="body"/>
          </p:nvPr>
        </p:nvSpPr>
        <p:spPr>
          <a:xfrm>
            <a:off x="729450" y="1907425"/>
            <a:ext cx="7688700" cy="3159000"/>
          </a:xfrm>
          <a:prstGeom prst="rect">
            <a:avLst/>
          </a:prstGeom>
        </p:spPr>
        <p:txBody>
          <a:bodyPr anchorCtr="0" anchor="t" bIns="91425" lIns="91425" spcFirstLastPara="1" rIns="91425" wrap="square" tIns="91425">
            <a:noAutofit/>
          </a:bodyPr>
          <a:lstStyle/>
          <a:p>
            <a:pPr indent="-349250" lvl="0" marL="457200" rtl="0" algn="l">
              <a:spcBef>
                <a:spcPts val="0"/>
              </a:spcBef>
              <a:spcAft>
                <a:spcPts val="0"/>
              </a:spcAft>
              <a:buSzPts val="1900"/>
              <a:buChar char="●"/>
            </a:pPr>
            <a:r>
              <a:rPr lang="en" sz="1900"/>
              <a:t>Mental health is influenced by many interconnected factors, academic workload, personal circumstances, and individual dispositions all play a role.</a:t>
            </a:r>
            <a:endParaRPr sz="1900"/>
          </a:p>
          <a:p>
            <a:pPr indent="-349250" lvl="0" marL="457200" rtl="0" algn="l">
              <a:spcBef>
                <a:spcPts val="0"/>
              </a:spcBef>
              <a:spcAft>
                <a:spcPts val="0"/>
              </a:spcAft>
              <a:buSzPts val="1900"/>
              <a:buChar char="●"/>
            </a:pPr>
            <a:r>
              <a:rPr lang="en" sz="1900"/>
              <a:t>No single variable fully explains students’ mental-health outcomes; patterns emerge from how multiple pressures interact.</a:t>
            </a:r>
            <a:endParaRPr sz="1900"/>
          </a:p>
          <a:p>
            <a:pPr indent="-349250" lvl="0" marL="457200" rtl="0" algn="l">
              <a:spcBef>
                <a:spcPts val="0"/>
              </a:spcBef>
              <a:spcAft>
                <a:spcPts val="0"/>
              </a:spcAft>
              <a:buSzPts val="1900"/>
              <a:buChar char="●"/>
            </a:pPr>
            <a:r>
              <a:rPr lang="en" sz="1900"/>
              <a:t>Academic difficulty still matters and should not be dismissed as a contributing factor.</a:t>
            </a:r>
            <a:endParaRPr sz="1900"/>
          </a:p>
          <a:p>
            <a:pPr indent="-349250" lvl="0" marL="457200" rtl="0" algn="l">
              <a:spcBef>
                <a:spcPts val="0"/>
              </a:spcBef>
              <a:spcAft>
                <a:spcPts val="0"/>
              </a:spcAft>
              <a:buSzPts val="1900"/>
              <a:buChar char="●"/>
            </a:pPr>
            <a:r>
              <a:rPr lang="en" sz="1900"/>
              <a:t>Supporting students holistically — academically and personally — is essential for well-being.</a:t>
            </a:r>
            <a:endParaRPr sz="19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 more information go to the following website</a:t>
            </a:r>
            <a:endParaRPr/>
          </a:p>
        </p:txBody>
      </p:sp>
      <p:sp>
        <p:nvSpPr>
          <p:cNvPr id="169" name="Google Shape;169;p2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200"/>
              <a:t>https://mac-stat212-f25.github.io/project-model_citizens/</a:t>
            </a:r>
            <a:endParaRPr sz="22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